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9775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1280160"/>
            <a:ext cx="1219169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</a:t>
            </a:r>
            <a:pPr algn="ctr" indent="0" marL="0">
              <a:buNone/>
            </a:pPr>
            <a:r>
              <a:rPr lang="en-US" sz="18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平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600" kern="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 평  ·  J A P Y E O N 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결정 앞에, 자평.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547208" y="4754880"/>
            <a:ext cx="109728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920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파트너십 제안서  ·  v2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53492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 39만 / Family 59만  ·  수수료 35~40%  ·  SKU 채널 분리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 운영팀  ·  2026.06  ·  BM v2  ·  3중 적대적 검증 통합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禮 ·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1분 안에 — 자평이 TM에 잘 맞는 이유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57600" cy="169164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제품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보조 고전 해석 +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명리 자문위원 사주 SaaS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57600" cy="169164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전용 단가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 39만 / Family 59만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(연 일시불)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657600" cy="169164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수수료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 35% (~13.6만)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Family 40% (~23.6만)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657600" cy="169164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건당 마진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1.6 ~ 12만 원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(CAC 12만 차감 후)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43400" y="3611880"/>
            <a:ext cx="3657600" cy="169164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운영 부담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콜만 — 약관·환불·CS·법무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자평이 100% 처리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3611880"/>
            <a:ext cx="3657600" cy="169164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794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4206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파일럿 (5명)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 CPA 보전 5% 추가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1B1E27"/>
          </a:solidFill>
          <a:ln w="12700">
            <a:solidFill>
              <a:srgbClr val="8C78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SKU 물리적 분리(Basic/Std=Self-serve, Prem/Family=TM)  ·  자문위원 회차 독립  ·  법무 리스크 자평이 100% 헷지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市 · 시장 기회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한국 사주 시장 — 1~4조 규모 추산, 디지털 5% 미만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210312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574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1~4조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사주·역학 시장 (추산)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통계 부재 — 비공식 비중 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611880" cy="210312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20574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5% 미만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2628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비중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3474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오프라인 명리원·점집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11880" cy="210312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05740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7~15만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321040" y="3063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명리원 상담가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21040" y="3474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 Premium 1년 = 명리원 3~5회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타겟  ·  40~60대 여성 (자평 본진)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가족·자녀·결혼·이주 의사결정 게이트키퍼  ·  TM 채널 인구·매체 행동·결제 패턴과 일치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80160" y="5532120"/>
            <a:ext cx="9631375" cy="640080"/>
          </a:xfrm>
          <a:prstGeom prst="rect">
            <a:avLst/>
          </a:prstGeom>
          <a:solidFill>
            <a:srgbClr val="1B1E27"/>
          </a:solidFill>
          <a:ln w="12700">
            <a:solidFill>
              <a:srgbClr val="8C7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5532120"/>
            <a:ext cx="96313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자평 wedge: 상위 20% '의사결정 자문' 카테고리  ·  락인 후 매출 다변화 (B2B·자문위원·시즌)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本 · 자평이란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자평 3층 구조 — 모방 어려운 조합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4415" cy="141732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73152" cy="1417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Layer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2677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룰베이스 명리 엔진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· Deterministic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202996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절기·진태양시·60갑자·격국·용신·대운을 코드가 확정.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사주를 푸는 게 아닙니다 — 코드가 먼저 사주를 세우고 AI는 그 위에서 해석만 합니다.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332720" y="2336292"/>
            <a:ext cx="1508760" cy="402336"/>
          </a:xfrm>
          <a:prstGeom prst="rect">
            <a:avLst/>
          </a:prstGeom>
          <a:solidFill>
            <a:srgbClr val="1B1E27"/>
          </a:solidFill>
          <a:ln w="12700">
            <a:solidFill>
              <a:srgbClr val="8C7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0" y="23362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테스트 316건 통과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1094415" cy="141732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29000"/>
            <a:ext cx="73152" cy="1417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593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Layer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8679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 보조 고전 해석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4297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고전 인용 의무 · 학파 다양성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363016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결과 위에서 해석만. 연해자평·삼명통회·적천수 출처 표기.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학파별 견해가 갈리는 부분은 'contested' 필드로 솔직히 명시.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332720" y="3936492"/>
            <a:ext cx="1508760" cy="402336"/>
          </a:xfrm>
          <a:prstGeom prst="rect">
            <a:avLst/>
          </a:prstGeom>
          <a:solidFill>
            <a:srgbClr val="1B1E27"/>
          </a:solidFill>
          <a:ln w="12700">
            <a:solidFill>
              <a:srgbClr val="8C7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39364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단정 표현 자동 톤다운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4415" cy="141732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9200"/>
            <a:ext cx="73152" cy="1417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Layer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54681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명리 자문위원 (사람)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68680" y="5897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독점 계약 + 위약금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523036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Premium/Family에서 1:1 검증·상담.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자평이 영입한 5~50명 풀과 3년 독점 계약 — 경쟁사 카피 불가의 실질 해자.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332720" y="5536692"/>
            <a:ext cx="1508760" cy="402336"/>
          </a:xfrm>
          <a:prstGeom prst="rect">
            <a:avLst/>
          </a:prstGeom>
          <a:solidFill>
            <a:srgbClr val="1B1E27"/>
          </a:solidFill>
          <a:ln w="12700">
            <a:solidFill>
              <a:srgbClr val="8C78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0" y="553669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해자 ❷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用 · 라이브 기능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지금 라이브로 작동하는 기능 — 데모 가능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57600" cy="18288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命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69164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사주 명식 분석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8자·십성·오행·격국·용신 자동 산출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657600" cy="18288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流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인생 흐름 그래프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대운 80년 길흉 시각화 (-5~+5 점수)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57600" cy="18288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問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9281160" y="2194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12 카테고리 AI 자문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971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직업·결혼·자녀·재정 등 단일 클릭 풀이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57600" cy="18288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宮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169164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궁합 (宮合)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사주 비교 + 학파별 견해 표시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43400" y="3794760"/>
            <a:ext cx="3657600" cy="18288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擇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548640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택일 (擇日)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17720" y="4937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내 좋은 날 추천 (행사 유형별 보너스)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3794760"/>
            <a:ext cx="3657600" cy="18288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023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決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928116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결정 도우미 A/B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0" y="4937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선택지 사주 비교 + lean 표시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solidFill>
            <a:srgbClr val="1B1E27"/>
          </a:solidFill>
          <a:ln w="12700">
            <a:solidFill>
              <a:srgbClr val="8C7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897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데모: </a:t>
            </a:r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https://ja-pyeong.vercel.app</a:t>
            </a:r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무료 체험 회원가입 불필요 · 모바일·PC 모두 가능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比 · 왜 TM 채널인가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다른 TM 상품 대비 단가·마진이 두꺼움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4415" cy="457200"/>
          </a:xfrm>
          <a:prstGeom prst="rect">
            <a:avLst/>
          </a:prstGeom>
          <a:solidFill>
            <a:srgbClr val="1B1E27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783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계약가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수수료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건당 마진 (CAC 10만)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11094415" cy="566928"/>
          </a:xfrm>
          <a:prstGeom prst="rect">
            <a:avLst/>
          </a:prstGeom>
          <a:solidFill>
            <a:srgbClr val="15171E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860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알뜰폰 요금제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286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3~5만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0.9~1.5만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0" y="22860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(-)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52928"/>
            <a:ext cx="11094415" cy="566928"/>
          </a:xfrm>
          <a:prstGeom prst="rect">
            <a:avLst/>
          </a:prstGeom>
          <a:solidFill>
            <a:srgbClr val="15171E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529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인터넷·IPTV 약정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8529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20~40만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8529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6~12만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28529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-4 ~ 2만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419856"/>
            <a:ext cx="11094415" cy="566928"/>
          </a:xfrm>
          <a:prstGeom prst="rect">
            <a:avLst/>
          </a:prstGeom>
          <a:solidFill>
            <a:srgbClr val="15171E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4198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보험 부가 특약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0" y="34198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40~80만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34198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8~24만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34198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 ~ 14만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986784"/>
            <a:ext cx="11094415" cy="566928"/>
          </a:xfrm>
          <a:prstGeom prst="rect">
            <a:avLst/>
          </a:prstGeom>
          <a:solidFill>
            <a:srgbClr val="15171E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98678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온라인 강의 1년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9867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20~50만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4~15만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61120" y="39867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-6 ~ 5만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553712"/>
            <a:ext cx="11094415" cy="566928"/>
          </a:xfrm>
          <a:prstGeom prst="rect">
            <a:avLst/>
          </a:prstGeom>
          <a:solidFill>
            <a:srgbClr val="1B1E27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553712"/>
            <a:ext cx="54864" cy="56692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5537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자평 Premium  ★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45537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45537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13.6만 (35%)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961120" y="45537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" y="5120640"/>
            <a:ext cx="11094415" cy="566928"/>
          </a:xfrm>
          <a:prstGeom prst="rect">
            <a:avLst/>
          </a:prstGeom>
          <a:solidFill>
            <a:srgbClr val="1B1E27"/>
          </a:solidFill>
          <a:ln w="6350">
            <a:solidFill>
              <a:srgbClr val="2A2E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120640"/>
            <a:ext cx="54864" cy="566928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1206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자평 Family  ★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931920" y="5120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59만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23.6만 (40%)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961120" y="5120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10만+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5943600"/>
            <a:ext cx="11094415" cy="502920"/>
          </a:xfrm>
          <a:prstGeom prst="rect">
            <a:avLst/>
          </a:prstGeom>
          <a:solidFill>
            <a:srgbClr val="1B1E27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943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Premium/Family가 핵심 수익원  ·  볼륨 보너스·갱신 수수료로 LTV 확보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品 · 상품 구성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4티어 · SKU 채널 물리적 분리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743200" cy="475488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BASIC · 자가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Self-serve only · TM 비대상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49,000</a:t>
            </a:r>
            <a:pPr indent="0" marL="0">
              <a:buNone/>
            </a:pPr>
            <a:r>
              <a:rPr lang="en-US" sz="1100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원/년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환산 4,083원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2377440" cy="0"/>
          </a:xfrm>
          <a:prstGeom prst="line">
            <a:avLst/>
          </a:prstGeom>
          <a:noFill/>
          <a:ln w="6350">
            <a:solidFill>
              <a:srgbClr val="2A2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31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리포트 (공정 사용)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일진 알림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요약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897880"/>
            <a:ext cx="2377440" cy="411480"/>
          </a:xfrm>
          <a:prstGeom prst="rect">
            <a:avLst/>
          </a:prstGeom>
          <a:solidFill>
            <a:srgbClr val="0E0F13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897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비대상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01568" y="1783080"/>
            <a:ext cx="2743200" cy="475488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4448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STANDARD · 자가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84448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Self-serve only · TM 비대상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84448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149,000</a:t>
            </a:r>
            <a:pPr indent="0" marL="0">
              <a:buNone/>
            </a:pPr>
            <a:r>
              <a:rPr lang="en-US" sz="1100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원/년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584448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환산 12,416원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84448" y="3794760"/>
            <a:ext cx="2377440" cy="0"/>
          </a:xfrm>
          <a:prstGeom prst="line">
            <a:avLst/>
          </a:prstGeom>
          <a:noFill/>
          <a:ln w="6350">
            <a:solidFill>
              <a:srgbClr val="2A2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84448" y="3931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Basic 전체 포함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도우미 무제한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통변·궁합 5건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84448" y="5897880"/>
            <a:ext cx="2377440" cy="411480"/>
          </a:xfrm>
          <a:prstGeom prst="rect">
            <a:avLst/>
          </a:prstGeom>
          <a:solidFill>
            <a:srgbClr val="0E0F13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84448" y="5897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비대상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54496" y="1783080"/>
            <a:ext cx="2743200" cy="4754880"/>
          </a:xfrm>
          <a:prstGeom prst="rect">
            <a:avLst/>
          </a:prstGeom>
          <a:solidFill>
            <a:srgbClr val="1B1E27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PREMIUM (1:1) 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37376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 핵심 클로징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37376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390,000</a:t>
            </a:r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원/년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37376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환산 32,500원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37376" y="3794760"/>
            <a:ext cx="2377440" cy="0"/>
          </a:xfrm>
          <a:prstGeom prst="line">
            <a:avLst/>
          </a:prstGeom>
          <a:noFill/>
          <a:ln w="6350">
            <a:solidFill>
              <a:srgbClr val="2A2E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3931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 전체 포함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자문위원 1:1 연 2회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학파 교차 검토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37376" y="5897880"/>
            <a:ext cx="2377440" cy="411480"/>
          </a:xfrm>
          <a:prstGeom prst="rect">
            <a:avLst/>
          </a:prstGeom>
          <a:solidFill>
            <a:srgbClr val="0E0F13"/>
          </a:solidFill>
          <a:ln w="12700">
            <a:solidFill>
              <a:srgbClr val="8C78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5897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수수료 (35%): 136,500원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07424" y="1783080"/>
            <a:ext cx="2743200" cy="4754880"/>
          </a:xfrm>
          <a:prstGeom prst="rect">
            <a:avLst/>
          </a:prstGeom>
          <a:solidFill>
            <a:srgbClr val="1B1E27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0304" y="19659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FAMILY · TM 우선 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290304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4인 + 자문위원 통합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90304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590,000</a:t>
            </a:r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원/년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9290304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환산 49,166원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290304" y="3794760"/>
            <a:ext cx="2377440" cy="0"/>
          </a:xfrm>
          <a:prstGeom prst="line">
            <a:avLst/>
          </a:prstGeom>
          <a:noFill/>
          <a:ln w="6350">
            <a:solidFill>
              <a:srgbClr val="2A2E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90304" y="3931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4인 AI 분석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자문위원 통합 2회 (가족 무관)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택일 컨설팅 무제한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90304" y="5897880"/>
            <a:ext cx="2377440" cy="411480"/>
          </a:xfrm>
          <a:prstGeom prst="rect">
            <a:avLst/>
          </a:prstGeom>
          <a:solidFill>
            <a:srgbClr val="0E0F13"/>
          </a:solidFill>
          <a:ln w="12700">
            <a:solidFill>
              <a:srgbClr val="8C78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0304" y="5897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수수료 (40%): 236,000원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義 · 가격 정당화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39만~59만 원이어도 합리적인가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5212080" cy="402336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80828D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동네 명리원  ·  1회 상담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7~15만 원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그 자리에서 한 번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다음 결정 때 다시 비용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학파 한 곳 의견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사주 풀이 + 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0" y="1783080"/>
            <a:ext cx="5212080" cy="4023360"/>
          </a:xfrm>
          <a:prstGeom prst="rect">
            <a:avLst/>
          </a:prstGeom>
          <a:solidFill>
            <a:srgbClr val="1B1E27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자평 Premium (TM 전용)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24688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39만 원 / 1년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583680" y="36576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1년 365일 무제한 (공정 사용)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분기 종합 PDF 리포트 4건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학파별 견해 + 고전 인용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자문위원 1:1 전화 연 2회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solidFill>
            <a:srgbClr val="1B1E27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89788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명리원 1회 비용 × 3~5회  =  자평 Premium 1년  +  자문위원 1:1 두 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約 · 파트너십 조건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협의 출발점 — 첫 미팅에서 조정 가능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13716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54864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47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Premium 수수료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35%  ·  136,500원/건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 범위 30~40%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486400" cy="13716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783080"/>
            <a:ext cx="54864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47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Family 수수료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2402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40%  ·  236,000원/건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697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협의 범위 35~45%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5486400" cy="13716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291840"/>
            <a:ext cx="54864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갱신 수수료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1년차 갱신 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LTV 보상 — 단순 신규 가입 외 추가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291840"/>
            <a:ext cx="5486400" cy="13716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291840"/>
            <a:ext cx="54864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볼륨 보너스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월 50건 +5% / 100건 +10%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규모별 인센티브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00600"/>
            <a:ext cx="54864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965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청약철회 회수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7일 100% / ~30일 50% / ~90일 25%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5715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회수 — 90일 이후 0%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4800600"/>
            <a:ext cx="5486400" cy="13716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4800600"/>
            <a:ext cx="54864" cy="13716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4965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파일럿 보전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첫 30일 CPA 5% 추가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0" y="5715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100건 미달 시 자평이 보전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分 · 역할 분담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책임 분리 — TM은 콜에만 집중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86400" cy="4023360"/>
          </a:xfrm>
          <a:prstGeom prst="rect">
            <a:avLst/>
          </a:prstGeom>
          <a:solidFill>
            <a:srgbClr val="15171E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자평이 책임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377440" y="2514600"/>
            <a:ext cx="182880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43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(앱 · 자문위원 · 서버)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시스템 (토스 · 카카오페이)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 · 환불 · 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 · 표시광고 사전 검수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금지어 CI 훅 (양사 카피 자동 검수)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TM 스크립트 + 4+6시간 무상 교육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CRM 대시보드 · 마케팅 자료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자녀 사주 출시 보류 (윤리)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486400" cy="4023360"/>
          </a:xfrm>
          <a:prstGeom prst="rect">
            <a:avLst/>
          </a:prstGeom>
          <a:solidFill>
            <a:srgbClr val="1B1E27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TM이 책임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001000" y="2514600"/>
            <a:ext cx="1828800" cy="0"/>
          </a:xfrm>
          <a:prstGeom prst="line">
            <a:avLst/>
          </a:prstGeom>
          <a:noFill/>
          <a:ln w="12700">
            <a:solidFill>
              <a:srgbClr val="8082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743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콜센터 운영 (상담사·DB·녹취)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 지정 멘트 준수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녹취 5년 보관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응대 (가입자 콜백)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□"/>
            </a:pPr>
            <a:r>
              <a:rPr lang="en-US" sz="13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1회 KPI 보고 (티어 믹스 포함)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0E0F13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법적 책임·환불 회수·민원·자녀 윤리는 자평이 100% 떠안는 구조  ·  TM은 콜만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算 · 단위 경제학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월 100건 가입 시 — TM 대행사 수익 시뮬레이션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212080" cy="457200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가입 1건  ·  Premium (수수료 35%)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 수수료 (390k × 35%)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+ 136,500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콜센터 운영비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(콘택트 20:1, 5,000원)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- 100,000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023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달 청약철회 (15%)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4023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- 20,475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457200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건당 순마진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51663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+ 16,025원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989320" y="1783080"/>
            <a:ext cx="5669280" cy="4572000"/>
          </a:xfrm>
          <a:prstGeom prst="rect">
            <a:avLst/>
          </a:prstGeom>
          <a:solidFill>
            <a:srgbClr val="1B1E27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920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월 100건 가입  ·  Premium 70 + Family 30 믹스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 70건 (×35%)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84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+ 9,555,000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CE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Family 30건 (×40%)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0684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+ 7,080,000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콜센터 운영비 (100 × 100k)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0684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- 10,000,000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청약철회 (15%)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00684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- 2,495,250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63640" y="5029200"/>
            <a:ext cx="521208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5120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월 순마진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0" y="51206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+ 4,139,750원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989320" y="5897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5명 → 본 운영(20명) 시 월 1.5천만 원대 가능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守 · 리스크 &amp; 컴플라이언스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 대표가 가장 걱정할 8개 리스크 — 자평이 헷지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67728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400" kern="0" dirty="0">
                          <a:solidFill>
                            <a:srgbClr val="C9A96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리스크</a:t>
                      </a:r>
                      <a:endParaRPr lang="en-US" sz="12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spc="400" kern="0" dirty="0">
                          <a:solidFill>
                            <a:srgbClr val="C9A961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자평의 대응</a:t>
                      </a:r>
                      <a:endParaRPr lang="en-US" sz="120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CE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표시광고법 (부당 표시)</a:t>
                      </a:r>
                      <a:endParaRPr lang="en-US" sz="11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7B8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자평 사전 검수 멘트만 + 금지어 CI 훅. 위반 시 자평 1차 책임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CE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전자상거래법 (청약철회)</a:t>
                      </a:r>
                      <a:endParaRPr lang="en-US" sz="11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7B8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7일 100% 환불 보장. 결제·환불 자평이 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CE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통신판매법 (녹취·고지)</a:t>
                      </a:r>
                      <a:endParaRPr lang="en-US" sz="11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7B8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자평 약관·고지 멘트 공급. 녹취만 TM 보관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CE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개인정보보호법</a:t>
                      </a:r>
                      <a:endParaRPr lang="en-US" sz="11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7B8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자평 PIMS 수준 보안. TM은 결제 링크만 전송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CE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다크패턴 (자동갱신)</a:t>
                      </a:r>
                      <a:endParaRPr lang="en-US" sz="11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7B8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opt-in 디폴트 OFF. 갱신 30/7/1일 전 3회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CE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위기 키워드 (자살·자해)</a:t>
                      </a:r>
                      <a:endParaRPr lang="en-US" sz="11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7B8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자평 가드레일 즉시 1393 안내로 단축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CE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환불 분쟁 회수</a:t>
                      </a:r>
                      <a:endParaRPr lang="en-US" sz="11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7B8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자평 100% 처리. TM은 회수 책임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CECEF"/>
                          </a:solidFill>
                          <a:latin typeface="Noto Serif KR" pitchFamily="34" charset="0"/>
                          <a:ea typeface="Noto Serif KR" pitchFamily="34" charset="-122"/>
                          <a:cs typeface="Noto Serif KR" pitchFamily="34" charset="-120"/>
                        </a:rPr>
                        <a:t>자녀 사주 윤리</a:t>
                      </a:r>
                      <a:endParaRPr lang="en-US" sz="1150" dirty="0">
                        <a:latin typeface="Noto Serif KR" charset="0"/>
                        <a:ea typeface="Noto Serif KR" charset="0"/>
                        <a:cs typeface="Noto Serif KR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B7B8C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자녀 상품 6개월 출시 보류 (D-Day 시나리오 차단)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71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1B1E27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TM이 안고 가던 법적 책임·환불 회수·민원·윤리 부담을 자평이 제도적으로 떠안는 구조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圖 · 로드맵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함께 만들 3단계 — 파일럿부터 확장까지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611880" cy="429768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395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· 파일럿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검증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3063240" cy="0"/>
          </a:xfrm>
          <a:prstGeom prst="line">
            <a:avLst/>
          </a:prstGeom>
          <a:noFill/>
          <a:ln w="6350">
            <a:solidFill>
              <a:srgbClr val="2A2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5명 · 일일 콜 2,000건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100건 목표 (Premium 70 + Family 30)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자평: 무상 교육 + CPA 보전 5%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종료 시 데이터 리뷰 → 본 계약 협의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3611880" cy="429768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395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3개월차~ · 본 운영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본 가동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617720" y="3429000"/>
            <a:ext cx="3063240" cy="0"/>
          </a:xfrm>
          <a:prstGeom prst="line">
            <a:avLst/>
          </a:prstGeom>
          <a:noFill/>
          <a:ln w="6350">
            <a:solidFill>
              <a:srgbClr val="2A2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6118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15~20명 확대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자문위원 풀 확대 (자평 영입, 3년 독점)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갱신 콜 전담팀 분리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가입 300~500건 목표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1828800"/>
            <a:ext cx="3611880" cy="429768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Phase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23957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6개월차~ · 확장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확장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8412480" y="3429000"/>
            <a:ext cx="3063240" cy="0"/>
          </a:xfrm>
          <a:prstGeom prst="line">
            <a:avLst/>
          </a:prstGeom>
          <a:noFill/>
          <a:ln w="6350">
            <a:solidFill>
              <a:srgbClr val="2A2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6118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B2B(기업 임원 코칭) 세그먼트 — TM 채널 영업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독점 협의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 광고 인입 → TM 클로징 협업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매출 30억+ 시나리오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263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2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검증  →  본 가동  →  확장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進 · 다음 단계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이번 미팅 후 2주 내 결론 부탁드립니다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F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1828800"/>
            <a:ext cx="10180015" cy="59436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8745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NDA 체결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0" y="1874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87752"/>
            <a:ext cx="502920" cy="5029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F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63040" y="2542032"/>
            <a:ext cx="10180015" cy="59436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91640" y="258775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자평 데모 + 상품 디테일 추가 미팅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80960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0" y="2587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 주관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300984"/>
            <a:ext cx="502920" cy="5029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300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F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63040" y="3255264"/>
            <a:ext cx="10180015" cy="59436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3300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파일럿 MoU 초안 교환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330098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 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09760" y="33009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자평 주관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014216"/>
            <a:ext cx="502920" cy="5029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F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463040" y="3968496"/>
            <a:ext cx="10180015" cy="59436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1640" y="401421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상담사 5명 파일럿 시작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80960" y="401421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 후 2주 내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509760" y="40142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 주관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4727448"/>
            <a:ext cx="502920" cy="5029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F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463040" y="4681728"/>
            <a:ext cx="10180015" cy="59436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47274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첫 30일 KPI 리뷰 (티어 믹스 포함)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80960" y="4727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30일차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09760" y="47274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양사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5440680"/>
            <a:ext cx="502920" cy="5029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F1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463040" y="5394960"/>
            <a:ext cx="10180015" cy="594360"/>
          </a:xfrm>
          <a:prstGeom prst="rect">
            <a:avLst/>
          </a:prstGeom>
          <a:solidFill>
            <a:srgbClr val="15171E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1640" y="54406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본 계약 체결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80960" y="5440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후 2주 내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09760" y="5440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양사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9775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C7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· PARTNERSHIP · v2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59775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子平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자평  ·  </a:t>
            </a:r>
            <a:pPr algn="r" indent="0" marL="0">
              <a:buNone/>
            </a:pPr>
            <a:r>
              <a:rPr lang="en-US" sz="1000" dirty="0">
                <a:solidFill>
                  <a:srgbClr val="8082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82296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子</a:t>
            </a:r>
            <a:pPr algn="ctr" indent="0" marL="0">
              <a:buNone/>
            </a:pPr>
            <a:r>
              <a:rPr lang="en-US" sz="11000" b="1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平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0" y="2240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결정 앞에, 자평.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2880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900년 명리학 고전 위에서, AI와 사람이 함께 결정을 돕습니다.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3657600"/>
            <a:ext cx="7619695" cy="2103120"/>
          </a:xfrm>
          <a:prstGeom prst="rect">
            <a:avLst/>
          </a:prstGeom>
          <a:solidFill>
            <a:srgbClr val="15171E"/>
          </a:solidFill>
          <a:ln w="25400">
            <a:solidFill>
              <a:srgbClr val="C9A9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840480"/>
            <a:ext cx="7619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C9A96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사업 제휴 문의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4251960"/>
            <a:ext cx="7619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ECE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1577-0000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286000" y="5074920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7B8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partner@japyeong.kr  ·  평일 10–18시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5440680"/>
            <a:ext cx="7619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데모: https://ja-pyeong.vercel.app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B7B8C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감사합니다.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자평 × TM 파트너십 제안서 v2</dc:title>
  <dc:subject>TM 파트너십 — Confidential · BM v2</dc:subject>
  <dc:creator>자평 운영팀</dc:creator>
  <cp:lastModifiedBy>자평 운영팀</cp:lastModifiedBy>
  <cp:revision>1</cp:revision>
  <dcterms:created xsi:type="dcterms:W3CDTF">2026-06-05T22:27:38Z</dcterms:created>
  <dcterms:modified xsi:type="dcterms:W3CDTF">2026-06-05T22:27:38Z</dcterms:modified>
</cp:coreProperties>
</file>