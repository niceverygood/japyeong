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59775" y="365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C78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 · PARTNERSHIP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0" y="1463040"/>
            <a:ext cx="1219169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子</a:t>
            </a:r>
            <a:pPr algn="ctr" indent="0" marL="0">
              <a:buNone/>
            </a:pPr>
            <a:r>
              <a:rPr lang="en-US" sz="180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平</a:t>
            </a:r>
            <a:endParaRPr lang="en-US" sz="18000" dirty="0"/>
          </a:p>
        </p:txBody>
      </p:sp>
      <p:sp>
        <p:nvSpPr>
          <p:cNvPr id="4" name="Text 2"/>
          <p:cNvSpPr/>
          <p:nvPr/>
        </p:nvSpPr>
        <p:spPr>
          <a:xfrm>
            <a:off x="0" y="35661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600" kern="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 평  ·  J A P Y E O N 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결정 앞에, 자평.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547208" y="493776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507492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TM 파트너십 제안서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0" y="55321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400" kern="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Annual Package · 39 / 89 / 180만 원  ·  TM 채널 위탁 판매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64008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자평 운영팀  ·  2026.06  ·  v1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禮 · Executive 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1분 안에 — 자평이 TM에 잘 맞는 이유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5" name="Text 3"/>
          <p:cNvSpPr/>
          <p:nvPr/>
        </p:nvSpPr>
        <p:spPr>
          <a:xfrm>
            <a:off x="8259775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C78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 · PARTNERSHIP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子平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자평  ·  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657600" cy="169164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제품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3774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+ 명리 자문위원이 함께하는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사주 자문 SaaS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657600" cy="169164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단가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17720" y="23774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/ 89 / 180만 원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(연 일시불, 3티어)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38160" y="1783080"/>
            <a:ext cx="3657600" cy="169164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TM 수수료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12480" y="23774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계약가의 20~30%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프리미엄 1건 약 22만 원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3657600" cy="169164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7947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건당 마진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4206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10~14만 원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(CAC 차감 후, 대행사 입장)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43400" y="3611880"/>
            <a:ext cx="3657600" cy="169164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17720" y="37947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운영 부담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17720" y="4206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콜만 — 약관·환불·CS·법무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자평이 100% 처리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138160" y="3611880"/>
            <a:ext cx="3657600" cy="169164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0" y="37947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시작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412480" y="4206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1개월 파일럿 (5명)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자평 CPA 보전 5% 추가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solidFill>
            <a:srgbClr val="1B1E27"/>
          </a:solidFill>
          <a:ln w="12700">
            <a:solidFill>
              <a:srgbClr val="8C783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단가가 높고, 자문위원 1:1 클로징 카드가 명확하며, 위탁 운영 부담이 낮은  ·  보기 드문 TM 친화 상품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市 · 시장 기회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한국 사주 시장 — 4조 규모, 디지털은 아직 5% 미만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5" name="Text 3"/>
          <p:cNvSpPr/>
          <p:nvPr/>
        </p:nvSpPr>
        <p:spPr>
          <a:xfrm>
            <a:off x="8259775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C78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 · PARTNERSHIP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子平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자평  ·  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611880" cy="210312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05740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4조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731520" y="306324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사주·역학 시장 (연)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4747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한국역술인협회 등 추산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43400" y="1828800"/>
            <a:ext cx="3611880" cy="210312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205740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5% 미만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4526280" y="306324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 비중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26280" y="34747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 오프라인 명리원·점집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611880" cy="210312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0" y="205740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10~15만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8321040" y="306324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명리원 상담가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21040" y="34747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자평 1년 = 명리원 3~5회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4389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핵심 타겟  ·  40~60대 여성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48640" y="48463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가족·자녀·결혼·이주 의사결정의 게이트키퍼  ·  TM 채널의 인구·매체 행동·결제 패턴과 정확히 일치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280160" y="5532120"/>
            <a:ext cx="9631375" cy="640080"/>
          </a:xfrm>
          <a:prstGeom prst="rect">
            <a:avLst/>
          </a:prstGeom>
          <a:solidFill>
            <a:srgbClr val="1B1E27"/>
          </a:solidFill>
          <a:ln w="12700">
            <a:solidFill>
              <a:srgbClr val="8C78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80160" y="5532120"/>
            <a:ext cx="9631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사주는 결정 시점마다 다시 본다  ·  본인 → 배우자 → 자녀 → 부모  →  자연 갱신·LTV 강함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本 · 자평이란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자평의 3층 구조 — 다른 사주 앱과 결정적으로 다른 점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5" name="Text 3"/>
          <p:cNvSpPr/>
          <p:nvPr/>
        </p:nvSpPr>
        <p:spPr>
          <a:xfrm>
            <a:off x="8259775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C78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 · PARTNERSHIP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子平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자평  ·  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11094415" cy="141732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73152" cy="14173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9933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Layer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226771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룰베이스 명리 엔진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68680" y="26974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결정론적 · Deterministic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212080" y="2029968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절기·진태양시·60갑자·격국·용신·대운을 코드가 확정.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사주를 푸는 게 아닙니다 — 코드가 먼저 사주를 세우고 AI는 그 위에서 해석만 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332720" y="2336292"/>
            <a:ext cx="1508760" cy="402336"/>
          </a:xfrm>
          <a:prstGeom prst="rect">
            <a:avLst/>
          </a:prstGeom>
          <a:solidFill>
            <a:srgbClr val="1B1E27"/>
          </a:solidFill>
          <a:ln w="12700">
            <a:solidFill>
              <a:srgbClr val="8C78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332720" y="2336292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A9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테스트 316건 통과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11094415" cy="141732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429000"/>
            <a:ext cx="73152" cy="14173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5935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Layer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68680" y="386791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AI 자문 (Claude 기반)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68680" y="4297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고전 인용 의무 · 학파 다양성 표기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12080" y="3630168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엔진 결과 위에서 해석만 수행. 연해자평·삼명통회·적천수 등 고전 출처 표기.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학파별 견해가 갈리는 부분은 솔직하게 'contested' 필드로 명시.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332720" y="3936492"/>
            <a:ext cx="1508760" cy="402336"/>
          </a:xfrm>
          <a:prstGeom prst="rect">
            <a:avLst/>
          </a:prstGeom>
          <a:solidFill>
            <a:srgbClr val="1B1E27"/>
          </a:solidFill>
          <a:ln w="12700">
            <a:solidFill>
              <a:srgbClr val="8C78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332720" y="3936492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A9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LLM 교차검증 가능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5029200"/>
            <a:ext cx="11094415" cy="141732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5029200"/>
            <a:ext cx="73152" cy="14173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51937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Layer 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68680" y="546811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명리 자문위원 (사람)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68680" y="58978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프리미엄/VIP에서 1:1 검증·상담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212080" y="5230368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못 보는 부분을 사람이 마무리합니다.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 상담 1:1, 학파 교차 검토, 가족 종합 진단.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332720" y="5536692"/>
            <a:ext cx="1508760" cy="402336"/>
          </a:xfrm>
          <a:prstGeom prst="rect">
            <a:avLst/>
          </a:prstGeom>
          <a:solidFill>
            <a:srgbClr val="1B1E27"/>
          </a:solidFill>
          <a:ln w="12700">
            <a:solidFill>
              <a:srgbClr val="8C783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32720" y="5536692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A9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프리미엄·VIP 핵심 가치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用 · 라이브 기능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지금 라이브로 작동하는 기능 — 데모 가능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5" name="Text 3"/>
          <p:cNvSpPr/>
          <p:nvPr/>
        </p:nvSpPr>
        <p:spPr>
          <a:xfrm>
            <a:off x="8259775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C78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 · PARTNERSHIP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子平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자평  ·  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657600" cy="182880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命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1691640" y="2194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사주 명식 분석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8자·십성·오행·격국·용신 자동 산출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1828800"/>
            <a:ext cx="3657600" cy="182880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流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5486400" y="2194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인생 흐름 그래프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9718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대운 80년 길흉 시각화 (-5~+5 점수)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657600" cy="182880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問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281160" y="2194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12 카테고리 AI 자문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2480" y="29718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직업·결혼·자녀·재정 등 단일 클릭 풀이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794760"/>
            <a:ext cx="3657600" cy="182880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023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宮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1691640" y="41605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궁합 (宮合)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22960" y="49377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사주 비교 + 학파별 견해 표시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43400" y="3794760"/>
            <a:ext cx="3657600" cy="182880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0" y="4023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擇</a:t>
            </a:r>
            <a:endParaRPr lang="en-US" sz="4400" dirty="0"/>
          </a:p>
        </p:txBody>
      </p:sp>
      <p:sp>
        <p:nvSpPr>
          <p:cNvPr id="25" name="Text 23"/>
          <p:cNvSpPr/>
          <p:nvPr/>
        </p:nvSpPr>
        <p:spPr>
          <a:xfrm>
            <a:off x="5486400" y="41605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택일 (擇日)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9377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내 좋은 날 추천 (행사 유형별 보너스)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38160" y="3794760"/>
            <a:ext cx="3657600" cy="182880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0" y="4023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決</a:t>
            </a:r>
            <a:endParaRPr lang="en-US" sz="4400" dirty="0"/>
          </a:p>
        </p:txBody>
      </p:sp>
      <p:sp>
        <p:nvSpPr>
          <p:cNvPr id="29" name="Text 27"/>
          <p:cNvSpPr/>
          <p:nvPr/>
        </p:nvSpPr>
        <p:spPr>
          <a:xfrm>
            <a:off x="9281160" y="41605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결정 도우미 A/B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412480" y="49377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선택지 사주 비교 + lean 표시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5897880"/>
            <a:ext cx="11094415" cy="502920"/>
          </a:xfrm>
          <a:prstGeom prst="rect">
            <a:avLst/>
          </a:prstGeom>
          <a:solidFill>
            <a:srgbClr val="1B1E27"/>
          </a:solidFill>
          <a:ln w="12700">
            <a:solidFill>
              <a:srgbClr val="8C783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58978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데모: </a:t>
            </a:r>
            <a:pPr algn="ctr" indent="0" marL="0">
              <a:buNone/>
            </a:pPr>
            <a:r>
              <a:rPr lang="en-US" sz="1300" b="1" dirty="0">
                <a:solidFill>
                  <a:srgbClr val="C9A9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https://ja-pyeong.vercel.app</a:t>
            </a:r>
            <a:pPr algn="ctr"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무료 체험 회원가입 불필요 · 모바일·PC 모두 가능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比 · 왜 TM 채널인가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다른 TM 상품 대비 단가·마진이 5~10배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5" name="Text 3"/>
          <p:cNvSpPr/>
          <p:nvPr/>
        </p:nvSpPr>
        <p:spPr>
          <a:xfrm>
            <a:off x="8259775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C78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 · PARTNERSHIP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子平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자평  ·  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4415" cy="457200"/>
          </a:xfrm>
          <a:prstGeom prst="rect">
            <a:avLst/>
          </a:prstGeom>
          <a:solidFill>
            <a:srgbClr val="1B1E27"/>
          </a:solidFill>
          <a:ln w="6350">
            <a:solidFill>
              <a:srgbClr val="2A2E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783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상품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9319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계약가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217920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TM 수수료 (20~30%)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0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건당 마진 (CAC 100k)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286000"/>
            <a:ext cx="11094415" cy="502920"/>
          </a:xfrm>
          <a:prstGeom prst="rect">
            <a:avLst/>
          </a:prstGeom>
          <a:solidFill>
            <a:srgbClr val="15171E"/>
          </a:solidFill>
          <a:ln w="6350">
            <a:solidFill>
              <a:srgbClr val="2A2E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2860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알뜰폰 요금제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3192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3~5만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22860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0.9~1.5만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961120" y="22860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(-)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788920"/>
            <a:ext cx="11094415" cy="502920"/>
          </a:xfrm>
          <a:prstGeom prst="rect">
            <a:avLst/>
          </a:prstGeom>
          <a:solidFill>
            <a:srgbClr val="15171E"/>
          </a:solidFill>
          <a:ln w="6350">
            <a:solidFill>
              <a:srgbClr val="2A2E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7889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인터넷·IPTV 약정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931920" y="2788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20~40만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17920" y="2788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6~12만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961120" y="2788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-4 ~ 2만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291840"/>
            <a:ext cx="11094415" cy="502920"/>
          </a:xfrm>
          <a:prstGeom prst="rect">
            <a:avLst/>
          </a:prstGeom>
          <a:solidFill>
            <a:srgbClr val="15171E"/>
          </a:solidFill>
          <a:ln w="6350">
            <a:solidFill>
              <a:srgbClr val="2A2E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291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보험 부가 특약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931920" y="32918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40~80만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17920" y="32918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8~24만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961120" y="32918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-2 ~ 14만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3794760"/>
            <a:ext cx="11094415" cy="502920"/>
          </a:xfrm>
          <a:prstGeom prst="rect">
            <a:avLst/>
          </a:prstGeom>
          <a:solidFill>
            <a:srgbClr val="15171E"/>
          </a:solidFill>
          <a:ln w="6350">
            <a:solidFill>
              <a:srgbClr val="2A2E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37947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온라인 강의 1년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37947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20~50만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217920" y="37947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4~15만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961120" y="37947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-6 ~ 5만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4297680"/>
            <a:ext cx="11094415" cy="502920"/>
          </a:xfrm>
          <a:prstGeom prst="rect">
            <a:avLst/>
          </a:prstGeom>
          <a:solidFill>
            <a:srgbClr val="15171E"/>
          </a:solidFill>
          <a:ln w="6350">
            <a:solidFill>
              <a:srgbClr val="2A2E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4297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자평 표준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931920" y="42976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39만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217920" y="42976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7.8~11.7만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961120" y="42976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-2.2 ~ 1.7만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48640" y="4800600"/>
            <a:ext cx="11094415" cy="502920"/>
          </a:xfrm>
          <a:prstGeom prst="rect">
            <a:avLst/>
          </a:prstGeom>
          <a:solidFill>
            <a:srgbClr val="1B1E27"/>
          </a:solidFill>
          <a:ln w="6350">
            <a:solidFill>
              <a:srgbClr val="2A2E3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4800600"/>
            <a:ext cx="54864" cy="5029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9" name="Text 37"/>
          <p:cNvSpPr/>
          <p:nvPr/>
        </p:nvSpPr>
        <p:spPr>
          <a:xfrm>
            <a:off x="731520" y="48006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자평 프리미엄  ★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3931920" y="4800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9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89만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217920" y="48006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9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17.8~26.7만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961120" y="48006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9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7.8 ~ 16.7만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48640" y="5303520"/>
            <a:ext cx="11094415" cy="502920"/>
          </a:xfrm>
          <a:prstGeom prst="rect">
            <a:avLst/>
          </a:prstGeom>
          <a:solidFill>
            <a:srgbClr val="1B1E27"/>
          </a:solidFill>
          <a:ln w="6350">
            <a:solidFill>
              <a:srgbClr val="2A2E3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48640" y="5303520"/>
            <a:ext cx="54864" cy="5029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45" name="Text 43"/>
          <p:cNvSpPr/>
          <p:nvPr/>
        </p:nvSpPr>
        <p:spPr>
          <a:xfrm>
            <a:off x="731520" y="53035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자평 VIP  ★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931920" y="5303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9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180만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217920" y="53035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9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36~54만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961120" y="53035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9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~ 44만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48640" y="5897880"/>
            <a:ext cx="11094415" cy="502920"/>
          </a:xfrm>
          <a:prstGeom prst="rect">
            <a:avLst/>
          </a:prstGeom>
          <a:solidFill>
            <a:srgbClr val="1B1E27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58978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프리미엄·VIP가 핵심 수익원  ·  표준은 진입 미끼  ·  일반 통신·보험 채널보다 건당 마진 5~10배 두꺼움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品 · 상품 구성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TM 클로징 상품 — 연간 패키지 3티어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5" name="Text 3"/>
          <p:cNvSpPr/>
          <p:nvPr/>
        </p:nvSpPr>
        <p:spPr>
          <a:xfrm>
            <a:off x="8259775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C78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 · PARTNERSHIP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子平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자평  ·  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694176" cy="475488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011680"/>
            <a:ext cx="3145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ANNUAL · 표준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350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처음·부담스러워하는 고객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743200"/>
            <a:ext cx="31455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390,000</a:t>
            </a:r>
            <a:pPr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 원/년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환산 32,500원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3886200"/>
            <a:ext cx="3145536" cy="0"/>
          </a:xfrm>
          <a:prstGeom prst="line">
            <a:avLst/>
          </a:prstGeom>
          <a:noFill/>
          <a:ln w="6350">
            <a:solidFill>
              <a:srgbClr val="2A2E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023360"/>
            <a:ext cx="314553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풀 기능 1년 무제한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종합 PDF 리포트 4건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대운 80년 인생 흐름 풀이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대화·리포트 영구 보관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5897880"/>
            <a:ext cx="3145536" cy="411480"/>
          </a:xfrm>
          <a:prstGeom prst="rect">
            <a:avLst/>
          </a:prstGeom>
          <a:solidFill>
            <a:srgbClr val="1B1E27"/>
          </a:solidFill>
          <a:ln w="12700">
            <a:solidFill>
              <a:srgbClr val="8C78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897880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TM 수수료 (20%): 78,000원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79976" y="1783080"/>
            <a:ext cx="3694176" cy="4754880"/>
          </a:xfrm>
          <a:prstGeom prst="rect">
            <a:avLst/>
          </a:prstGeom>
          <a:solidFill>
            <a:srgbClr val="1B1E27"/>
          </a:solidFill>
          <a:ln w="25400">
            <a:solidFill>
              <a:srgbClr val="C9A9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54296" y="2011680"/>
            <a:ext cx="3145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ANNUAL · 프리미엄 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54296" y="2350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앞에 선 고객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54296" y="2743200"/>
            <a:ext cx="31455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890,000</a:t>
            </a:r>
            <a:pPr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 원/년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4654296" y="3474720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환산 74,000원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54296" y="3886200"/>
            <a:ext cx="3145536" cy="0"/>
          </a:xfrm>
          <a:prstGeom prst="line">
            <a:avLst/>
          </a:prstGeom>
          <a:noFill/>
          <a:ln w="6350">
            <a:solidFill>
              <a:srgbClr val="2A2E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54296" y="4023360"/>
            <a:ext cx="314553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패키지 전체 포함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자문위원 1:1 전화 연 2회 (30분)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결정 학파 교차 검토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보고서 인쇄본 발송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54296" y="5897880"/>
            <a:ext cx="3145536" cy="411480"/>
          </a:xfrm>
          <a:prstGeom prst="rect">
            <a:avLst/>
          </a:prstGeom>
          <a:solidFill>
            <a:srgbClr val="0E0F13"/>
          </a:solidFill>
          <a:ln w="12700">
            <a:solidFill>
              <a:srgbClr val="8C78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54296" y="5897880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TM 수수료 (25%): 222,500원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11312" y="1783080"/>
            <a:ext cx="3694176" cy="475488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85632" y="2011680"/>
            <a:ext cx="3145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ANNUAL · VIP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485632" y="2350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단위·반복 의사결정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485632" y="2743200"/>
            <a:ext cx="31455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1,800,000</a:t>
            </a:r>
            <a:pPr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 원/년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8485632" y="3474720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환산 150,000원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485632" y="3886200"/>
            <a:ext cx="3145536" cy="0"/>
          </a:xfrm>
          <a:prstGeom prst="line">
            <a:avLst/>
          </a:prstGeom>
          <a:noFill/>
          <a:ln w="6350">
            <a:solidFill>
              <a:srgbClr val="2A2E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85632" y="4023360"/>
            <a:ext cx="314553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프리미엄 전체 포함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자문위원 분기 1:1 (연 4회)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3인 + 가족 합 분석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택일 컨설팅 무제한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485632" y="5897880"/>
            <a:ext cx="3145536" cy="411480"/>
          </a:xfrm>
          <a:prstGeom prst="rect">
            <a:avLst/>
          </a:prstGeom>
          <a:solidFill>
            <a:srgbClr val="1B1E27"/>
          </a:solidFill>
          <a:ln w="12700">
            <a:solidFill>
              <a:srgbClr val="8C783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85632" y="5897880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TM 수수료 (30%): 540,000원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義 · 가격 정당화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왜 39만~180만 원이어도 합리적인가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5" name="Text 3"/>
          <p:cNvSpPr/>
          <p:nvPr/>
        </p:nvSpPr>
        <p:spPr>
          <a:xfrm>
            <a:off x="8259775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C78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 · PARTNERSHIP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子平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자평  ·  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1783080"/>
            <a:ext cx="5212080" cy="402336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9659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80828D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동네 명리원  ·  1회 상담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46888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10~15만 원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914400" y="36576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그 자리에서 한 번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다음 결정 때 다시 비용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학파 한 곳 의견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사주 풀이 + 끝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VS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0" y="1783080"/>
            <a:ext cx="5212080" cy="4023360"/>
          </a:xfrm>
          <a:prstGeom prst="rect">
            <a:avLst/>
          </a:prstGeom>
          <a:solidFill>
            <a:srgbClr val="1B1E27"/>
          </a:solidFill>
          <a:ln w="25400">
            <a:solidFill>
              <a:srgbClr val="C9A9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9659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자평  ·  연간 표준 패키지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0" y="246888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39만 원 / 1년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6583680" y="36576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1년 365일 무제한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분기 종합 리포트 4건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학파별 견해 + 고전 인용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(프리미엄+) 자문위원 1:1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5897880"/>
            <a:ext cx="10728655" cy="502920"/>
          </a:xfrm>
          <a:prstGeom prst="rect">
            <a:avLst/>
          </a:prstGeom>
          <a:solidFill>
            <a:srgbClr val="1B1E27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89788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명리원 1회 비용 × 3~5회  =  자평 표준 1년  ·  콜에서 그대로 사용 가능한 정당화 한 줄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約 · 파트너십 조건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협의 출발점 — 모두 첫 미팅에서 조정 가능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5" name="Text 3"/>
          <p:cNvSpPr/>
          <p:nvPr/>
        </p:nvSpPr>
        <p:spPr>
          <a:xfrm>
            <a:off x="8259775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C78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 · PARTNERSHIP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子平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자평  ·  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486400" cy="137160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83080"/>
            <a:ext cx="54864" cy="137160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9476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수수료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계약가의 20~30%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697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티어·볼륨 차등, 첫 미팅 협의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1783080"/>
            <a:ext cx="5486400" cy="137160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783080"/>
            <a:ext cx="54864" cy="137160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9476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정산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0" y="22402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월 2회 (15일·말일)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697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청약철회 발생분은 수수료 회수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291840"/>
            <a:ext cx="5486400" cy="137160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291840"/>
            <a:ext cx="54864" cy="137160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4564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계약 형태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" y="37490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위탁판매 추천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77240" y="4206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자평 명의 결제, TM 수수료 정산. 총판 협의 가능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72200" y="3291840"/>
            <a:ext cx="5486400" cy="137160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72200" y="3291840"/>
            <a:ext cx="54864" cy="137160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34564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독점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0" y="37490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지역·세그먼트 단위 협의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00800" y="4206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수도권 50대 여성. 전국 독점은 KPI 보장 조건부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00600"/>
            <a:ext cx="5486400" cy="137160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00600"/>
            <a:ext cx="54864" cy="137160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49651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최저 가입 인센티브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파일럿 첫 30일 CPA 5% 보전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77240" y="57150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100건 가입 시 추가 보전 — TM 리스크 헷지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72200" y="4800600"/>
            <a:ext cx="5486400" cy="137160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72200" y="4800600"/>
            <a:ext cx="54864" cy="137160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0" y="49651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교육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0800" y="52578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입문 4시간 + 심화 6시간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400800" y="57150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자평 무상 제공 (명리 기초 + 상품 + 컴플라이언스)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分 · 역할 분담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책임 분리 — TM은 콜에만 집중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5" name="Text 3"/>
          <p:cNvSpPr/>
          <p:nvPr/>
        </p:nvSpPr>
        <p:spPr>
          <a:xfrm>
            <a:off x="8259775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C78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 · PARTNERSHIP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子平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자평  ·  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486400" cy="4023360"/>
          </a:xfrm>
          <a:prstGeom prst="rect">
            <a:avLst/>
          </a:prstGeom>
          <a:solidFill>
            <a:srgbClr val="15171E"/>
          </a:solidFill>
          <a:ln w="25400">
            <a:solidFill>
              <a:srgbClr val="C9A9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965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자평이 책임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377440" y="2514600"/>
            <a:ext cx="1828800" cy="0"/>
          </a:xfrm>
          <a:prstGeom prst="line">
            <a:avLst/>
          </a:prstGeom>
          <a:noFill/>
          <a:ln w="12700">
            <a:solidFill>
              <a:srgbClr val="C9A9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4320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(앱 · 자문위원 · 서버)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 (PortOne · KG)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 · 환불 · CS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법무 · 표시광고 사전 검수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TM 스크립트 + 4+6시간 무상 교육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대시보드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 자료 · 리드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지원 (영업일 4시간 내)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72200" y="1783080"/>
            <a:ext cx="5486400" cy="4023360"/>
          </a:xfrm>
          <a:prstGeom prst="rect">
            <a:avLst/>
          </a:prstGeom>
          <a:solidFill>
            <a:srgbClr val="1B1E27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72200" y="1965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7B8C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TM이 책임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001000" y="2514600"/>
            <a:ext cx="1828800" cy="0"/>
          </a:xfrm>
          <a:prstGeom prst="line">
            <a:avLst/>
          </a:prstGeom>
          <a:noFill/>
          <a:ln w="12700">
            <a:solidFill>
              <a:srgbClr val="8082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74320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□"/>
            </a:pPr>
            <a:r>
              <a:rPr lang="en-US" sz="13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콜센터 운영 (상담사·DB·녹취)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□"/>
            </a:pPr>
            <a:r>
              <a:rPr lang="en-US" sz="13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자평 지정 멘트 준수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□"/>
            </a:pPr>
            <a:r>
              <a:rPr lang="en-US" sz="13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녹취 5년 보관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□"/>
            </a:pPr>
            <a:r>
              <a:rPr lang="en-US" sz="13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응대 (가입자 콜백)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□"/>
            </a:pPr>
            <a:r>
              <a:rPr lang="en-US" sz="13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KPI 보고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solidFill>
            <a:srgbClr val="0E0F13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법적 책임·환불 회수·민원은 자평이 100% 떠안는 구조  ·  TM은 콜만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算 · 단위 경제학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월 100건 가입 시 — TM 대행사 수익 시뮬레이션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5" name="Text 3"/>
          <p:cNvSpPr/>
          <p:nvPr/>
        </p:nvSpPr>
        <p:spPr>
          <a:xfrm>
            <a:off x="8259775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C78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 · PARTNERSHIP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子平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자평  ·  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212080" cy="457200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9202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가입 1건 기준  ·  프리미엄 (수수료 25%)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TM 수수료 (890k × 25%)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66160" y="24688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+ 222,500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3246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콜센터 운영비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(콘택트 20:1, 5,000원)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66160" y="32461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7B8C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- 100,000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40233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달 청약철회 (15%)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66160" y="4023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7B8C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- 33,375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5074920"/>
            <a:ext cx="4572000" cy="0"/>
          </a:xfrm>
          <a:prstGeom prst="line">
            <a:avLst/>
          </a:prstGeom>
          <a:noFill/>
          <a:ln w="12700">
            <a:solidFill>
              <a:srgbClr val="C9A9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1663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건당 순마진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66160" y="5166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+ 89,125원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989320" y="1783080"/>
            <a:ext cx="5669280" cy="4572000"/>
          </a:xfrm>
          <a:prstGeom prst="rect">
            <a:avLst/>
          </a:prstGeom>
          <a:solidFill>
            <a:srgbClr val="1B1E27"/>
          </a:solidFill>
          <a:ln w="25400">
            <a:solidFill>
              <a:srgbClr val="C9A9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89320" y="19202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월 100건 가입 시 (티어 믹스)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63640" y="2423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50건 (×20%)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006840" y="2423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+ 3,900,000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63640" y="2880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프리미엄 40건 (×25%)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006840" y="28803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+ 8,900,000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63640" y="3337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VIP 10건 (×30%)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006840" y="3337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+ 5,400,000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263640" y="3794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콜센터 운영비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006840" y="3794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7B8C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- 10,000,000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63640" y="4251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청약철회 (15%)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006840" y="4251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7B8C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- 2,730,000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263640" y="4983480"/>
            <a:ext cx="5212080" cy="0"/>
          </a:xfrm>
          <a:prstGeom prst="line">
            <a:avLst/>
          </a:prstGeom>
          <a:noFill/>
          <a:ln w="12700">
            <a:solidFill>
              <a:srgbClr val="C9A9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63640" y="5074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월 순마진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686800" y="507492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+ 5,470,000원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5989320" y="58521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상담사 5명 파일럿 → 본 운영(20명) 시 월 2천만 원대 가능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守 · 리스크 &amp; 컴플라이언스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TM 대표가 가장 걱정할 7개 리스크 — 자평이 헷지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5" name="Text 3"/>
          <p:cNvSpPr/>
          <p:nvPr/>
        </p:nvSpPr>
        <p:spPr>
          <a:xfrm>
            <a:off x="8259775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C78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 · PARTNERSHIP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子平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자평  ·  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15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967728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spc="400" kern="0" dirty="0">
                          <a:solidFill>
                            <a:srgbClr val="C9A961"/>
                          </a:solidFill>
                          <a:latin typeface="Noto Serif KR" pitchFamily="34" charset="0"/>
                          <a:ea typeface="Noto Serif KR" pitchFamily="34" charset="-122"/>
                          <a:cs typeface="Noto Serif KR" pitchFamily="34" charset="-120"/>
                        </a:rPr>
                        <a:t>리스크</a:t>
                      </a:r>
                      <a:endParaRPr lang="en-US" sz="1200" dirty="0">
                        <a:latin typeface="Noto Serif KR" charset="0"/>
                        <a:ea typeface="Noto Serif KR" charset="0"/>
                        <a:cs typeface="Noto Serif K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spc="400" kern="0" dirty="0">
                          <a:solidFill>
                            <a:srgbClr val="C9A961"/>
                          </a:solidFill>
                          <a:latin typeface="Noto Serif KR" pitchFamily="34" charset="0"/>
                          <a:ea typeface="Noto Serif KR" pitchFamily="34" charset="-122"/>
                          <a:cs typeface="Noto Serif KR" pitchFamily="34" charset="-120"/>
                        </a:rPr>
                        <a:t>자평의 대응</a:t>
                      </a:r>
                      <a:endParaRPr lang="en-US" sz="1200" dirty="0">
                        <a:latin typeface="Noto Serif KR" charset="0"/>
                        <a:ea typeface="Noto Serif KR" charset="0"/>
                        <a:cs typeface="Noto Serif K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CECEF"/>
                          </a:solidFill>
                          <a:latin typeface="Noto Serif KR" pitchFamily="34" charset="0"/>
                          <a:ea typeface="Noto Serif KR" pitchFamily="34" charset="-122"/>
                          <a:cs typeface="Noto Serif KR" pitchFamily="34" charset="-120"/>
                        </a:rPr>
                        <a:t>표시광고법 (부당 표시)</a:t>
                      </a:r>
                      <a:endParaRPr lang="en-US" sz="1200" dirty="0">
                        <a:latin typeface="Noto Serif KR" charset="0"/>
                        <a:ea typeface="Noto Serif KR" charset="0"/>
                        <a:cs typeface="Noto Serif K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7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7B8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자평이 사전 검수한 멘트만 사용. 위반 시 자평이 1차 책임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7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CECEF"/>
                          </a:solidFill>
                          <a:latin typeface="Noto Serif KR" pitchFamily="34" charset="0"/>
                          <a:ea typeface="Noto Serif KR" pitchFamily="34" charset="-122"/>
                          <a:cs typeface="Noto Serif KR" pitchFamily="34" charset="-120"/>
                        </a:rPr>
                        <a:t>전자상거래법 (청약철회)</a:t>
                      </a:r>
                      <a:endParaRPr lang="en-US" sz="1200" dirty="0">
                        <a:latin typeface="Noto Serif KR" charset="0"/>
                        <a:ea typeface="Noto Serif KR" charset="0"/>
                        <a:cs typeface="Noto Serif K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7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7B8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7일 100% 환불 보장. 결제·환불 시스템 자평이 운영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7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CECEF"/>
                          </a:solidFill>
                          <a:latin typeface="Noto Serif KR" pitchFamily="34" charset="0"/>
                          <a:ea typeface="Noto Serif KR" pitchFamily="34" charset="-122"/>
                          <a:cs typeface="Noto Serif KR" pitchFamily="34" charset="-120"/>
                        </a:rPr>
                        <a:t>통신판매법 (녹취·고지)</a:t>
                      </a:r>
                      <a:endParaRPr lang="en-US" sz="1200" dirty="0">
                        <a:latin typeface="Noto Serif KR" charset="0"/>
                        <a:ea typeface="Noto Serif KR" charset="0"/>
                        <a:cs typeface="Noto Serif K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7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7B8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자평 약관·고지 멘트 공급. 녹취만 TM이 보관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7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CECEF"/>
                          </a:solidFill>
                          <a:latin typeface="Noto Serif KR" pitchFamily="34" charset="0"/>
                          <a:ea typeface="Noto Serif KR" pitchFamily="34" charset="-122"/>
                          <a:cs typeface="Noto Serif KR" pitchFamily="34" charset="-120"/>
                        </a:rPr>
                        <a:t>개인정보보호법</a:t>
                      </a:r>
                      <a:endParaRPr lang="en-US" sz="1200" dirty="0">
                        <a:latin typeface="Noto Serif KR" charset="0"/>
                        <a:ea typeface="Noto Serif KR" charset="0"/>
                        <a:cs typeface="Noto Serif K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7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7B8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자평이 PIMS 수준 보안. TM은 결제 링크만 전송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7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CECEF"/>
                          </a:solidFill>
                          <a:latin typeface="Noto Serif KR" pitchFamily="34" charset="0"/>
                          <a:ea typeface="Noto Serif KR" pitchFamily="34" charset="-122"/>
                          <a:cs typeface="Noto Serif KR" pitchFamily="34" charset="-120"/>
                        </a:rPr>
                        <a:t>위기 키워드 (자살·자해)</a:t>
                      </a:r>
                      <a:endParaRPr lang="en-US" sz="1200" dirty="0">
                        <a:latin typeface="Noto Serif KR" charset="0"/>
                        <a:ea typeface="Noto Serif KR" charset="0"/>
                        <a:cs typeface="Noto Serif K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7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7B8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자평 가드레일이 즉시 109 안내로 단축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7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CECEF"/>
                          </a:solidFill>
                          <a:latin typeface="Noto Serif KR" pitchFamily="34" charset="0"/>
                          <a:ea typeface="Noto Serif KR" pitchFamily="34" charset="-122"/>
                          <a:cs typeface="Noto Serif KR" pitchFamily="34" charset="-120"/>
                        </a:rPr>
                        <a:t>환불 분쟁 회수</a:t>
                      </a:r>
                      <a:endParaRPr lang="en-US" sz="1200" dirty="0">
                        <a:latin typeface="Noto Serif KR" charset="0"/>
                        <a:ea typeface="Noto Serif KR" charset="0"/>
                        <a:cs typeface="Noto Serif K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7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7B8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자평이 100% 처리. TM은 회수 책임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7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CECEF"/>
                          </a:solidFill>
                          <a:latin typeface="Noto Serif KR" pitchFamily="34" charset="0"/>
                          <a:ea typeface="Noto Serif KR" pitchFamily="34" charset="-122"/>
                          <a:cs typeface="Noto Serif KR" pitchFamily="34" charset="-120"/>
                        </a:rPr>
                        <a:t>"사주 안 맞다" 클레임</a:t>
                      </a:r>
                      <a:endParaRPr lang="en-US" sz="1200" dirty="0">
                        <a:latin typeface="Noto Serif KR" charset="0"/>
                        <a:ea typeface="Noto Serif KR" charset="0"/>
                        <a:cs typeface="Noto Serif K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7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7B8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약관에 참고용 명시 + 자문위원 무료 추가 상담 1차 대응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71E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solidFill>
            <a:srgbClr val="1B1E27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TM이 안고 가던 법적 책임·환불 회수·민원 부담을 자평이 제도적으로 떠안는 구조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圖 · 로드맵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함께 만들 3단계 — 파일럿부터 확장까지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5" name="Text 3"/>
          <p:cNvSpPr/>
          <p:nvPr/>
        </p:nvSpPr>
        <p:spPr>
          <a:xfrm>
            <a:off x="8259775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C78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 · PARTNERSHIP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子平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자평  ·  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/ 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611880" cy="429768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3611880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0574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Phase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39572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1개월 · 파일럿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27432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검증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822960" y="3429000"/>
            <a:ext cx="3063240" cy="0"/>
          </a:xfrm>
          <a:prstGeom prst="line">
            <a:avLst/>
          </a:prstGeom>
          <a:noFill/>
          <a:ln w="6350">
            <a:solidFill>
              <a:srgbClr val="2A2E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61188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상담사 5명 · 일일 콜 2,000건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100건 목표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자평: 무상 교육 + CPA 보전 5%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종료 시 데이터 리뷰 → 본 계약 협의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828800"/>
            <a:ext cx="3611880" cy="429768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828800"/>
            <a:ext cx="3611880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20574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Phase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17720" y="239572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3개월차~ · 본 운영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17720" y="27432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본 가동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4617720" y="3429000"/>
            <a:ext cx="3063240" cy="0"/>
          </a:xfrm>
          <a:prstGeom prst="line">
            <a:avLst/>
          </a:prstGeom>
          <a:noFill/>
          <a:ln w="6350">
            <a:solidFill>
              <a:srgbClr val="2A2E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17720" y="361188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상담사 15~20명 확대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자문위원 풀 확대 (자평 영입)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콜 전담팀 분리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가입 300~500건 목표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38160" y="1828800"/>
            <a:ext cx="3611880" cy="429768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38160" y="1828800"/>
            <a:ext cx="3611880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3" name="Text 21"/>
          <p:cNvSpPr/>
          <p:nvPr/>
        </p:nvSpPr>
        <p:spPr>
          <a:xfrm>
            <a:off x="8412480" y="20574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Phase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412480" y="239572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6개월차~ · 확장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412480" y="27432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확장</a:t>
            </a:r>
            <a:endParaRPr lang="en-US" sz="2800" dirty="0"/>
          </a:p>
        </p:txBody>
      </p:sp>
      <p:sp>
        <p:nvSpPr>
          <p:cNvPr id="26" name="Shape 24"/>
          <p:cNvSpPr/>
          <p:nvPr/>
        </p:nvSpPr>
        <p:spPr>
          <a:xfrm>
            <a:off x="8412480" y="3429000"/>
            <a:ext cx="3063240" cy="0"/>
          </a:xfrm>
          <a:prstGeom prst="line">
            <a:avLst/>
          </a:prstGeom>
          <a:noFill/>
          <a:ln w="6350">
            <a:solidFill>
              <a:srgbClr val="2A2E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2480" y="361188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가족·B2B(기업 임원 코칭) 세그먼트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독점 협의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자평 광고 인입 → TM 클로징 협업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매출 30억+ 시나리오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2636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12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검증  →  본 가동  →  확장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進 · 다음 단계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이번 미팅 후 2주 내 결론 부탁드립니다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5" name="Text 3"/>
          <p:cNvSpPr/>
          <p:nvPr/>
        </p:nvSpPr>
        <p:spPr>
          <a:xfrm>
            <a:off x="8259775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C78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 · PARTNERSHIP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子平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자평  ·  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/ 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1874520"/>
            <a:ext cx="502920" cy="502920"/>
          </a:xfrm>
          <a:prstGeom prst="ellipse">
            <a:avLst/>
          </a:prstGeom>
          <a:solidFill>
            <a:srgbClr val="C9A961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F1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463040" y="1828800"/>
            <a:ext cx="10180015" cy="59436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91640" y="18745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NDA 체결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68096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509760" y="18745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2587752"/>
            <a:ext cx="502920" cy="502920"/>
          </a:xfrm>
          <a:prstGeom prst="ellipse">
            <a:avLst/>
          </a:prstGeom>
          <a:solidFill>
            <a:srgbClr val="C9A961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F1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463040" y="2542032"/>
            <a:ext cx="10180015" cy="59436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91640" y="2587752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자평 데모 + 상품 디테일 추가 미팅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680960" y="258775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 내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509760" y="25877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자평 주관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300984"/>
            <a:ext cx="502920" cy="502920"/>
          </a:xfrm>
          <a:prstGeom prst="ellipse">
            <a:avLst/>
          </a:prstGeom>
          <a:solidFill>
            <a:srgbClr val="C9A961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F1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463040" y="3255264"/>
            <a:ext cx="10180015" cy="59436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691640" y="3300984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파일럿 MoU 초안 교환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80960" y="330098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 내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509760" y="33009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자평 주관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4014216"/>
            <a:ext cx="502920" cy="502920"/>
          </a:xfrm>
          <a:prstGeom prst="ellipse">
            <a:avLst/>
          </a:prstGeom>
          <a:solidFill>
            <a:srgbClr val="C9A961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014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F1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463040" y="3968496"/>
            <a:ext cx="10180015" cy="59436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1640" y="401421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상담사 5명 파일럿 시작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680960" y="401421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합의 후 2주 내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509760" y="401421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TM 주관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31520" y="4727448"/>
            <a:ext cx="502920" cy="502920"/>
          </a:xfrm>
          <a:prstGeom prst="ellipse">
            <a:avLst/>
          </a:prstGeom>
          <a:solidFill>
            <a:srgbClr val="C9A961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4727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F1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463040" y="4681728"/>
            <a:ext cx="10180015" cy="59436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1640" y="472744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첫 30일 KPI 리뷰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680960" y="472744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 30일차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509760" y="47274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양사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31520" y="5440680"/>
            <a:ext cx="502920" cy="502920"/>
          </a:xfrm>
          <a:prstGeom prst="ellipse">
            <a:avLst/>
          </a:prstGeom>
          <a:solidFill>
            <a:srgbClr val="C9A961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5440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F13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6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463040" y="5394960"/>
            <a:ext cx="10180015" cy="594360"/>
          </a:xfrm>
          <a:prstGeom prst="rect">
            <a:avLst/>
          </a:prstGeom>
          <a:solidFill>
            <a:srgbClr val="15171E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1640" y="544068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본 계약 체결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680960" y="5440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 후 2주 내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509760" y="5440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양사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59775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C78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 · PARTNERSHIP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5977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子平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자평  ·  </a:t>
            </a:r>
            <a:pPr algn="r" indent="0" marL="0">
              <a:buNone/>
            </a:pPr>
            <a:r>
              <a:rPr lang="en-US" sz="1000" dirty="0">
                <a:solidFill>
                  <a:srgbClr val="8082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/ 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822960"/>
            <a:ext cx="121916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子</a:t>
            </a:r>
            <a:pPr algn="ctr" indent="0" marL="0">
              <a:buNone/>
            </a:pPr>
            <a:r>
              <a:rPr lang="en-US" sz="11000" b="1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平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0" y="224028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결정 앞에, 자평.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0" y="28803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900년 명리학 고전 위에서, AI와 사람이 함께 결정을 돕습니다.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86000" y="3657600"/>
            <a:ext cx="7619695" cy="2103120"/>
          </a:xfrm>
          <a:prstGeom prst="rect">
            <a:avLst/>
          </a:prstGeom>
          <a:solidFill>
            <a:srgbClr val="15171E"/>
          </a:solidFill>
          <a:ln w="25400">
            <a:solidFill>
              <a:srgbClr val="C9A9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3840480"/>
            <a:ext cx="7619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600" kern="0" dirty="0">
                <a:solidFill>
                  <a:srgbClr val="C9A961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사업 제휴 문의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86000" y="4251960"/>
            <a:ext cx="7619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CECE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1577-0000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2286000" y="5074920"/>
            <a:ext cx="7619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7B8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partner@japyeong.kr  ·  평일 10–18시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86000" y="5440680"/>
            <a:ext cx="7619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A9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데모: https://ja-pyeong.vercel.app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0" y="59893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spc="800" kern="0" dirty="0">
                <a:solidFill>
                  <a:srgbClr val="B7B8C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감사합니다.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자평 × TM 파트너십 제안서</dc:title>
  <dc:subject>TM 파트너십 제안 — Confidential</dc:subject>
  <dc:creator>자평 운영팀</dc:creator>
  <cp:lastModifiedBy>자평 운영팀</cp:lastModifiedBy>
  <cp:revision>1</cp:revision>
  <dcterms:created xsi:type="dcterms:W3CDTF">2026-06-04T03:40:07Z</dcterms:created>
  <dcterms:modified xsi:type="dcterms:W3CDTF">2026-06-04T03:40:07Z</dcterms:modified>
</cp:coreProperties>
</file>